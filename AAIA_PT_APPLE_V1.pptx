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50976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28800" y="1481328"/>
            <a:ext cx="8531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 ASSOCIATE  ANALYST  RECRUITMENT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채용전환형 인턴(AA) 지원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788920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입장을 하나의 논의로 모으고, 일하는 방식을 새롭게 만드는 컨설턴트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34290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지원자  박준원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1968" y="34290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4617720"/>
            <a:ext cx="3566160" cy="960120"/>
          </a:xfrm>
          <a:prstGeom prst="roundRect">
            <a:avLst>
              <a:gd name="adj" fmla="val 18095"/>
            </a:avLst>
          </a:prstGeom>
          <a:solidFill>
            <a:srgbClr val="1D1D1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및 수행 경험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4617720"/>
            <a:ext cx="3566160" cy="960120"/>
          </a:xfrm>
          <a:prstGeom prst="roundRect">
            <a:avLst>
              <a:gd name="adj" fmla="val 18095"/>
            </a:avLst>
          </a:prstGeom>
          <a:solidFill>
            <a:srgbClr val="1D1D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0288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핵심역량과 대표사례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6448" y="4617720"/>
            <a:ext cx="3566160" cy="960120"/>
          </a:xfrm>
          <a:prstGeom prst="roundRect">
            <a:avLst>
              <a:gd name="adj" fmla="val 18095"/>
            </a:avLst>
          </a:prstGeom>
          <a:solidFill>
            <a:srgbClr val="1D1D1F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30768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강점·보완점과 입사 후 계획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— 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이력사항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PA로 컨설팅에 입문, Deloitte·BTS를 거쳐 KMAC으로 복귀 — 전공 기반 분석력과 검증된 실무 적응력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61872"/>
            <a:ext cx="2331720" cy="2286000"/>
          </a:xfrm>
          <a:prstGeom prst="roundRect">
            <a:avLst>
              <a:gd name="adj" fmla="val 7600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261872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2331720" cy="2606040"/>
          </a:xfrm>
          <a:prstGeom prst="roundRect">
            <a:avLst>
              <a:gd name="adj" fmla="val 7451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391363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9136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지원자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4343400"/>
            <a:ext cx="1929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컨설팅을 시작해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Deloitte·BTS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성장하고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돌아온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 박준원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12984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 &amp; Career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17520" y="1636776"/>
            <a:ext cx="4892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9816" y="1938528"/>
            <a:ext cx="0" cy="38404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40380" y="1847088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7922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'19.09 ~ '24.07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179222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Newcastle University 마케팅 학사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203911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2:1 (Upper Second-Class) · GPA 3.6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40380" y="2606040"/>
            <a:ext cx="118872" cy="118872"/>
          </a:xfrm>
          <a:prstGeom prst="ellipse">
            <a:avLst/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51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'23.06 ~ '23.09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6592" y="25511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한국능률협회컨설팅 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27980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수요-공급 매칭 행사 운영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40380" y="33649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'24.08 ~ '25.02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33101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Consulting 인턴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355701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전자기업 제품정보 표준화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40380" y="4123944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'25.04 ~ '25.09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36592" y="4069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Seoul Research Analyst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36592" y="43159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Merz · 글로벌 전자기업 프로그램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40380" y="4882896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48280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'25.10 ~ '26.02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36592" y="482803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Research Analyst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507492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BM · 제안 리서치 5건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40380" y="5641848"/>
            <a:ext cx="118872" cy="118872"/>
          </a:xfrm>
          <a:prstGeom prst="ellipse">
            <a:avLst/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'26.04 ~ 현재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36592" y="55869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한국능률협회컨설팅 Expert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36592" y="583387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AAIA 운영사무국 외 4개 프로젝트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183880" y="1261872"/>
            <a:ext cx="3547872" cy="2286000"/>
          </a:xfrm>
          <a:prstGeom prst="roundRect">
            <a:avLst>
              <a:gd name="adj" fmla="val 7600"/>
            </a:avLst>
          </a:pr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0" y="1444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역량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12480" y="1792224"/>
            <a:ext cx="309067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49056" y="2029968"/>
            <a:ext cx="64008" cy="6400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864108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· Excel 보고자료 작성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449056" y="2505456"/>
            <a:ext cx="64008" cy="6400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9" name="Text 57"/>
          <p:cNvSpPr/>
          <p:nvPr/>
        </p:nvSpPr>
        <p:spPr>
          <a:xfrm>
            <a:off x="8641080" y="2414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 행정문서 작성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49056" y="2980944"/>
            <a:ext cx="64008" cy="6400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1" name="Text 59"/>
          <p:cNvSpPr/>
          <p:nvPr/>
        </p:nvSpPr>
        <p:spPr>
          <a:xfrm>
            <a:off x="864108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커뮤니케이션 · 번역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183880" y="3712464"/>
            <a:ext cx="3547872" cy="260604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0" y="3895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역량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607040" y="389534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65" name="Text 63"/>
          <p:cNvSpPr/>
          <p:nvPr/>
        </p:nvSpPr>
        <p:spPr>
          <a:xfrm>
            <a:off x="10607040" y="38953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재입사 후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412480" y="4242816"/>
            <a:ext cx="3090672" cy="0"/>
          </a:xfrm>
          <a:prstGeom prst="line">
            <a:avLst/>
          </a:prstGeom>
          <a:noFill/>
          <a:ln w="9525">
            <a:solidFill>
              <a:srgbClr val="51515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49056" y="4553712"/>
            <a:ext cx="64008" cy="64008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68" name="Text 66"/>
          <p:cNvSpPr/>
          <p:nvPr/>
        </p:nvSpPr>
        <p:spPr>
          <a:xfrm>
            <a:off x="864108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에이전트 도메인 지식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449056" y="5138928"/>
            <a:ext cx="64008" cy="64008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70" name="Text 68"/>
          <p:cNvSpPr/>
          <p:nvPr/>
        </p:nvSpPr>
        <p:spPr>
          <a:xfrm>
            <a:off x="8641080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· GA · Power BI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49056" y="5724144"/>
            <a:ext cx="64008" cy="64008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72" name="Text 70"/>
          <p:cNvSpPr/>
          <p:nvPr/>
        </p:nvSpPr>
        <p:spPr>
          <a:xfrm>
            <a:off x="8641080" y="5632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자동화 도구 활용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—  PROJECT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수행 경험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PA('23)를 시작으로 총 11개 프로젝트와 제안 리서치 5건 수행, 재입사 후 4개월간 5개 프로젝트 투입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시스템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43784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43784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19072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847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매칭 행사 운영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223113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 · '23.06~'23.09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670048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79806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제품정보 표준화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182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· '24.08~'25.02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490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BM · 관리정책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13308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· '25.10~'26.02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700016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우정사업본부 재정비 제안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5084064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· '26.06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10128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· 전략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96712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96712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10128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0128" y="1719072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41" name="Text 39"/>
          <p:cNvSpPr/>
          <p:nvPr/>
        </p:nvSpPr>
        <p:spPr>
          <a:xfrm>
            <a:off x="3493008" y="1847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Merz 마케팅 프레임워크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223113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· '25.05~'25.07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10128" y="2670048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44" name="Text 42"/>
          <p:cNvSpPr/>
          <p:nvPr/>
        </p:nvSpPr>
        <p:spPr>
          <a:xfrm>
            <a:off x="3493008" y="279806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역량 강화 PGM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93008" y="3182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· '25.04~'25.09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10128" y="3621024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47" name="Text 45"/>
          <p:cNvSpPr/>
          <p:nvPr/>
        </p:nvSpPr>
        <p:spPr>
          <a:xfrm>
            <a:off x="3493008" y="37490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신사업 워크숍 운영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93008" y="413308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· '25.04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63056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리서치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49640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3056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3056" y="1719072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6345936" y="1847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리서치 5건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45936" y="223113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· '26.01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63056" y="2670048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57" name="Text 55"/>
          <p:cNvSpPr/>
          <p:nvPr/>
        </p:nvSpPr>
        <p:spPr>
          <a:xfrm>
            <a:off x="6345936" y="279806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한국공항공사 제안서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45936" y="3182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· '26.04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63056" y="3621024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60" name="Text 58"/>
          <p:cNvSpPr/>
          <p:nvPr/>
        </p:nvSpPr>
        <p:spPr>
          <a:xfrm>
            <a:off x="6345936" y="37490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리서치 · 번역 2건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45936" y="413308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· '26.04~'26.06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015984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에이전트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1402568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02568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015984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15984" y="1719072"/>
            <a:ext cx="2715768" cy="3694176"/>
          </a:xfrm>
          <a:prstGeom prst="roundRect">
            <a:avLst>
              <a:gd name="adj" fmla="val 6397"/>
            </a:avLst>
          </a:prstGeom>
          <a:solidFill>
            <a:srgbClr val="1D1D1F"/>
          </a:solidFill>
          <a:ln/>
        </p:spPr>
      </p:sp>
      <p:sp>
        <p:nvSpPr>
          <p:cNvPr id="67" name="Shape 65"/>
          <p:cNvSpPr/>
          <p:nvPr/>
        </p:nvSpPr>
        <p:spPr>
          <a:xfrm>
            <a:off x="9198864" y="190195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68" name="Text 66"/>
          <p:cNvSpPr/>
          <p:nvPr/>
        </p:nvSpPr>
        <p:spPr>
          <a:xfrm>
            <a:off x="9198864" y="19019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98864" y="228600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Alliance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198864" y="2615184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NIA · '26.04 ~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198864" y="2999232"/>
            <a:ext cx="2350008" cy="0"/>
          </a:xfrm>
          <a:prstGeom prst="line">
            <a:avLst/>
          </a:prstGeom>
          <a:noFill/>
          <a:ln w="9525">
            <a:solidFill>
              <a:srgbClr val="51515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98864" y="3145536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운영사무국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198864" y="3456432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산업분과 · 생태계분과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· 기록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소통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5596128"/>
            <a:ext cx="11274552" cy="685800"/>
          </a:xfrm>
          <a:prstGeom prst="roundRect">
            <a:avLst>
              <a:gd name="adj" fmla="val 25333"/>
            </a:avLst>
          </a:prstGeom>
          <a:solidFill>
            <a:srgbClr val="F5F5F7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  </a:t>
            </a:r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프로젝트</a:t>
            </a:r>
            <a:endParaRPr lang="en-US" sz="2100" dirty="0"/>
          </a:p>
        </p:txBody>
      </p:sp>
      <p:sp>
        <p:nvSpPr>
          <p:cNvPr id="76" name="Text 74"/>
          <p:cNvSpPr/>
          <p:nvPr/>
        </p:nvSpPr>
        <p:spPr>
          <a:xfrm>
            <a:off x="4215384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  </a:t>
            </a:r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 조직 (KMAC · Deloitte · BTS)</a:t>
            </a:r>
            <a:endParaRPr lang="en-US" sz="2100" dirty="0"/>
          </a:p>
        </p:txBody>
      </p:sp>
      <p:sp>
        <p:nvSpPr>
          <p:cNvPr id="77" name="Shape 75"/>
          <p:cNvSpPr/>
          <p:nvPr/>
        </p:nvSpPr>
        <p:spPr>
          <a:xfrm>
            <a:off x="4215384" y="5742432"/>
            <a:ext cx="0" cy="393192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73568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개+   </a:t>
            </a:r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산업 (전자 · 데이터 · 의료 · 공공 등)</a:t>
            </a:r>
            <a:endParaRPr lang="en-US" sz="2100" dirty="0"/>
          </a:p>
        </p:txBody>
      </p:sp>
      <p:sp>
        <p:nvSpPr>
          <p:cNvPr id="79" name="Shape 77"/>
          <p:cNvSpPr/>
          <p:nvPr/>
        </p:nvSpPr>
        <p:spPr>
          <a:xfrm>
            <a:off x="7973568" y="5742432"/>
            <a:ext cx="0" cy="393192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—  CORE COMPETENCY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 — 서로 다른 입장을 하나의 논의로 모으는 능력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분석이 정확해도 고객이 납득하지 않으면 실행되지 않음 — 공통의 논의 기반을 만드는 것이 컨설턴트의 역할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94560" y="1207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· 이슈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57800" y="1207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대응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120700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원칙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7739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제품정보 표준화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'24.08 ~ '25.02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94560" y="1517904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162763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· 북미법인 · 해외 개발 인력이 각자의 시스템과 우선순위로 참여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사안이 반복 논의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4064" y="2057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57800" y="1517904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162763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4회 영어 정례 회의 기록 및 후속 과업 관리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· 미결 사항을 구분해 정리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47304" y="2057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21040" y="1517904"/>
            <a:ext cx="3410712" cy="1353312"/>
          </a:xfrm>
          <a:prstGeom prst="roundRect">
            <a:avLst>
              <a:gd name="adj" fmla="val 12838"/>
            </a:avLst>
          </a:prstGeom>
          <a:solidFill>
            <a:srgbClr val="1D1D1F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164592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다음 논의의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출발점이어야 한다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552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Merz 프레임워크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'25.05 ~ '25.07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94560" y="2999232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36" name="Text 34"/>
          <p:cNvSpPr/>
          <p:nvPr/>
        </p:nvSpPr>
        <p:spPr>
          <a:xfrm>
            <a:off x="2377440" y="3108960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산업 기준으로 설계된 프레임워크가 에스테틱 시장 특성과 부합하지 않음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84064" y="35387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57800" y="2999232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3108960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분해 후 시장 특성과 대조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팀장 · 매니저 5명 인터뷰로 현장 유효성 검증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47304" y="35387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21040" y="2999232"/>
            <a:ext cx="3410712" cy="1353312"/>
          </a:xfrm>
          <a:prstGeom prst="roundRect">
            <a:avLst>
              <a:gd name="adj" fmla="val 12838"/>
            </a:avLst>
          </a:prstGeom>
          <a:solidFill>
            <a:srgbClr val="1D1D1F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312724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언어로 설명되지 않는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전략은 실행되지 않는다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22208" y="3968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8522208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실제 도입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7200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5047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AAIA 운영사무국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'26.04 ~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94560" y="4480560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4590288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· 스마트홈 · 보안 · 금융 등 산업별로 협의체 참여 목적이 상이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동시 만족이 어려운 구조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84064" y="50200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257800" y="4480560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51" name="Text 49"/>
          <p:cNvSpPr/>
          <p:nvPr/>
        </p:nvSpPr>
        <p:spPr>
          <a:xfrm>
            <a:off x="5440680" y="4590288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회의에서 회원사 발언을 기록하며 각 기업의 요구를 파악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관심 주제를 안건으로 정리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47304" y="50200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321040" y="4480560"/>
            <a:ext cx="3410712" cy="1353312"/>
          </a:xfrm>
          <a:prstGeom prst="roundRect">
            <a:avLst>
              <a:gd name="adj" fmla="val 12838"/>
            </a:avLst>
          </a:prstGeom>
          <a:solidFill>
            <a:srgbClr val="1D1D1F"/>
          </a:solidFill>
          <a:ln/>
        </p:spPr>
      </p:sp>
      <p:sp>
        <p:nvSpPr>
          <p:cNvPr id="54" name="Text 52"/>
          <p:cNvSpPr/>
          <p:nvPr/>
        </p:nvSpPr>
        <p:spPr>
          <a:xfrm>
            <a:off x="8522208" y="460857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논의에 앞서 공통의 기반을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만들어야 한다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22208" y="544982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8522208" y="5449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수행 중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594360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협업 › 고객사 › 다자 협의체</a:t>
            </a:r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이어지며, 논의를 성립시키는 방법을 축적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03-1  —  CASE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 ① Data Hub 구축 — BM 구체화 및 데이터 관리정책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신사업 모델 구체화 과제에서 규제 검토와 시장 벤치마킹을 수행하고, BM 논의의 기준이 되는 자료를 구축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ICT/데이터 플랫폼社의 신규 디바이스로 축적되는 데이터를 사업화하기 위한 Data Hub 구축   (팀 10인 · 기여도 15%)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프로세스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거버넌스 ·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규제 리서치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61488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· 민감정보의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사업적 활용 가능성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65776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5138928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데이터 사업자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5~6개사 벤치마킹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50608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70064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7443216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질병별 필요 데이터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확보 경로 리서치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454896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74352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9747504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· 관리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2377440" cy="1783080"/>
          </a:xfrm>
          <a:prstGeom prst="roundRect">
            <a:avLst>
              <a:gd name="adj" fmla="val 9744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3101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pPr algn="ctr" indent="0" marL="0">
              <a:buNone/>
            </a:pPr>
            <a:r>
              <a:rPr lang="en-US" sz="30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 구축 · 관리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63240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체계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63240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63240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데이터명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24528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24528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내용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85816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85816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습득 방법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47104" y="33467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활용처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571232" y="3346704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종류 (일반/가명)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555480" y="33467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55480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분야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63240" y="3785616"/>
            <a:ext cx="8668512" cy="1014984"/>
          </a:xfrm>
          <a:prstGeom prst="roundRect">
            <a:avLst>
              <a:gd name="adj" fmla="val 17117"/>
            </a:avLst>
          </a:prstGeom>
          <a:solidFill>
            <a:srgbClr val="F5F5F7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246120" y="3785616"/>
            <a:ext cx="83027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 엑셀 시트 — 상단 헤더 행과 데이터 일부 (기업 식별 정보 마스킹 권장)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51206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5120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554480" y="4983480"/>
            <a:ext cx="3291840" cy="566928"/>
          </a:xfrm>
          <a:prstGeom prst="roundRect">
            <a:avLst>
              <a:gd name="adj" fmla="val 30645"/>
            </a:avLst>
          </a:prstGeom>
          <a:solidFill>
            <a:srgbClr val="F5F5F7"/>
          </a:solidFill>
          <a:ln/>
        </p:spPr>
      </p:sp>
      <p:sp>
        <p:nvSpPr>
          <p:cNvPr id="59" name="Text 57"/>
          <p:cNvSpPr/>
          <p:nvPr/>
        </p:nvSpPr>
        <p:spPr>
          <a:xfrm>
            <a:off x="1645920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구체화 논의의 기준 자료로 활용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992624" y="4983480"/>
            <a:ext cx="3291840" cy="566928"/>
          </a:xfrm>
          <a:prstGeom prst="roundRect">
            <a:avLst>
              <a:gd name="adj" fmla="val 30645"/>
            </a:avLst>
          </a:pr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5084064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최종보고서 산출물에 포함 · 제출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430768" y="4983480"/>
            <a:ext cx="3291840" cy="566928"/>
          </a:xfrm>
          <a:prstGeom prst="roundRect">
            <a:avLst>
              <a:gd name="adj" fmla="val 30645"/>
            </a:avLst>
          </a:prstGeom>
          <a:solidFill>
            <a:srgbClr val="F5F5F7"/>
          </a:solidFill>
          <a:ln/>
        </p:spPr>
      </p:sp>
      <p:sp>
        <p:nvSpPr>
          <p:cNvPr id="63" name="Text 61"/>
          <p:cNvSpPr/>
          <p:nvPr/>
        </p:nvSpPr>
        <p:spPr>
          <a:xfrm>
            <a:off x="8522208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전환 시 기준을 세우는 역할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585216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신사업 전략 수립 과정에서 </a:t>
            </a:r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기준을 만들어내는 역할</a:t>
            </a:r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수행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03-2  —  CASE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 ② Merz Aesthetics — B2B Marketing Principle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전략 프레임워크를 시장 특성에 맞게 재설계하고, 실무진 인터뷰로 현장 실행 가능성을 검증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제약회사 중심으로 설계된 기존 마케팅 프레임워크를 메디컬 에스테틱 시장 특성에 맞게 재해석할 필요   (팀 3인 · 기여도 25%)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874520"/>
            <a:ext cx="3017520" cy="1600200"/>
          </a:xfrm>
          <a:prstGeom prst="roundRect">
            <a:avLst>
              <a:gd name="adj" fmla="val 10857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산업 기준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프레임워크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9584" y="2542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49040" y="1874520"/>
            <a:ext cx="4480560" cy="1600200"/>
          </a:xfrm>
          <a:prstGeom prst="roundRect">
            <a:avLst>
              <a:gd name="adj" fmla="val 10857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재설계 접근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2487168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분해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30368" y="2633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67528" y="2487168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67528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특성 대조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65976" y="2633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03136" y="2487168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지점 도출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284464" y="2542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3920" y="1874520"/>
            <a:ext cx="3227832" cy="1600200"/>
          </a:xfrm>
          <a:prstGeom prst="roundRect">
            <a:avLst>
              <a:gd name="adj" fmla="val 10857"/>
            </a:avLst>
          </a:prstGeom>
          <a:solidFill>
            <a:srgbClr val="1D1D1F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24231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에스테틱 시장 특화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Marketing Principle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11274552" cy="1234440"/>
          </a:xfrm>
          <a:prstGeom prst="roundRect">
            <a:avLst>
              <a:gd name="adj" fmla="val 14074"/>
            </a:avLst>
          </a:prstGeom>
          <a:solidFill>
            <a:srgbClr val="F5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검토 · 인터뷰 검증 반복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3840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 반복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개선안 작성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615184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71216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71216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검토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102352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2352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실무진 5명 인터뷰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77456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33488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유효성 검증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308592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564624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9564624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사례 개발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5166360"/>
            <a:ext cx="11274552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5166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  </a:t>
            </a:r>
            <a:pPr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개발된 프레임워크는 고객사 B2B 마케팅 부서에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도입되어 현재 활용 중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85216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영국 Newcastle University 졸업 프로젝트 — 사회적기업(CIC) 대상 마케팅 전략 컨설팅, 7인 다국적 팀에서 리서치 · 최종 보고서 담당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03-3  —  CASE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 ③ Agentic AI Alliance — 운영사무국 실무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정책사업 운영(PMO) 실무를 수행하며, 다수 참여기관의 서로 다른 기대를 논의 가능한 형태로 정리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NIA 주관 정부과제 — AI 에이전트 마켓플레이스, 회원사 지원, 검증 · 벤치마크 체계를 아우르는 민 · 관 협력 얼라이언스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847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기관의 서로 다른 기대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7627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1762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688336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88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8444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0480" y="1828800"/>
            <a:ext cx="4206240" cy="2377440"/>
          </a:xfrm>
          <a:prstGeom prst="roundRect">
            <a:avLst>
              <a:gd name="adj" fmla="val 7308"/>
            </a:avLst>
          </a:prstGeom>
          <a:solidFill>
            <a:srgbClr val="1D1D1F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19751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운영사무국 — 나의 역할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2377440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2C2C2E"/>
          </a:solidFill>
          <a:ln/>
        </p:spPr>
      </p:sp>
      <p:sp>
        <p:nvSpPr>
          <p:cNvPr id="36" name="Text 34"/>
          <p:cNvSpPr/>
          <p:nvPr/>
        </p:nvSpPr>
        <p:spPr>
          <a:xfrm>
            <a:off x="4069080" y="2377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· 기록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69080" y="2944368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2C2C2E"/>
          </a:solidFill>
          <a:ln/>
        </p:spPr>
      </p:sp>
      <p:sp>
        <p:nvSpPr>
          <p:cNvPr id="38" name="Text 36"/>
          <p:cNvSpPr/>
          <p:nvPr/>
        </p:nvSpPr>
        <p:spPr>
          <a:xfrm>
            <a:off x="4069080" y="29443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발언에서 요구 파악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69080" y="3511296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2C2C2E"/>
          </a:solidFill>
          <a:ln/>
        </p:spPr>
      </p:sp>
      <p:sp>
        <p:nvSpPr>
          <p:cNvPr id="40" name="Text 38"/>
          <p:cNvSpPr/>
          <p:nvPr/>
        </p:nvSpPr>
        <p:spPr>
          <a:xfrm>
            <a:off x="4069080" y="35112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관심 주제 도출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5644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12480" y="1828800"/>
            <a:ext cx="3319272" cy="2377440"/>
          </a:xfrm>
          <a:prstGeom prst="roundRect">
            <a:avLst>
              <a:gd name="adj" fmla="val 7308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1975104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가능한 형태로 정리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41080" y="2377440"/>
            <a:ext cx="28620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641080" y="2377440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분과 회의 안건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641080" y="2944368"/>
            <a:ext cx="28620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2944368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소통 방향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41080" y="3511296"/>
            <a:ext cx="28620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641080" y="3511296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데이터 현행화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5537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537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수행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91640" y="4462272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53" name="Text 51"/>
          <p:cNvSpPr/>
          <p:nvPr/>
        </p:nvSpPr>
        <p:spPr>
          <a:xfrm>
            <a:off x="1691640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환경분석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84064" y="4462272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55" name="Text 53"/>
          <p:cNvSpPr/>
          <p:nvPr/>
        </p:nvSpPr>
        <p:spPr>
          <a:xfrm>
            <a:off x="5084064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산업분과 일정 수립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76488" y="4462272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57" name="Text 55"/>
          <p:cNvSpPr/>
          <p:nvPr/>
        </p:nvSpPr>
        <p:spPr>
          <a:xfrm>
            <a:off x="8476488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 회의 장표 작성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5239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5239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91640" y="5138928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169164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정부과제(NIA) 운영 체계 이해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84064" y="5138928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63" name="Text 61"/>
          <p:cNvSpPr/>
          <p:nvPr/>
        </p:nvSpPr>
        <p:spPr>
          <a:xfrm>
            <a:off x="5084064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이해관계자 조율 경험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476488" y="5138928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65" name="Text 63"/>
          <p:cNvSpPr/>
          <p:nvPr/>
        </p:nvSpPr>
        <p:spPr>
          <a:xfrm>
            <a:off x="8476488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생태계 도메인 지식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5870448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587044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정해지지 않은 영역에서는 </a:t>
            </a:r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세우는 일 자체가 업무의 출발점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—  WAY OF WORKING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 — 반복되는 일을 체계로 만드는 습관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반복에 쓰이던 시간을 판단이 필요한 업무로 옮기는 것이 목적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 자동화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· 구조화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1572768"/>
            <a:ext cx="55138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정부과제 공고 확인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1993392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3504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수기 검색 · 취합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07792" y="21762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54680" y="1993392"/>
            <a:ext cx="2788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00984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요일 자동 메일 수신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2834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회원사 접수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136392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3504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폼 수시 확인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07792" y="33192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154680" y="3136392"/>
            <a:ext cx="2788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00984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00984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즉시 자동 알림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977640"/>
            <a:ext cx="5486400" cy="1783080"/>
          </a:xfrm>
          <a:prstGeom prst="roundRect">
            <a:avLst>
              <a:gd name="adj" fmla="val 9744"/>
            </a:avLst>
          </a:prstGeom>
          <a:solidFill>
            <a:srgbClr val="F5F5F7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40080" y="39776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수신 메일 화면 또는 폼 제출 알림 화면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1691640"/>
            <a:ext cx="5513832" cy="941832"/>
          </a:xfrm>
          <a:prstGeom prst="roundRect">
            <a:avLst>
              <a:gd name="adj" fmla="val 18447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18196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소개자료 템플릿 · 작성 예시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209397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양식과 예시를 제작하여 회원사와 사무국 양측의 작업 부담 경감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2761488"/>
            <a:ext cx="5513832" cy="1691640"/>
          </a:xfrm>
          <a:prstGeom prst="roundRect">
            <a:avLst>
              <a:gd name="adj" fmla="val 10270"/>
            </a:avLst>
          </a:prstGeom>
          <a:solidFill>
            <a:srgbClr val="F5F5F7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00800" y="2761488"/>
            <a:ext cx="5148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소개자료 템플릿 · 작성 예시 표지 또는 본문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4572000"/>
            <a:ext cx="5513832" cy="1188720"/>
          </a:xfrm>
          <a:prstGeom prst="roundRect">
            <a:avLst>
              <a:gd name="adj" fmla="val 14615"/>
            </a:avLst>
          </a:prstGeom>
          <a:solidFill>
            <a:srgbClr val="F5F5F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47183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300건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규모 데이터 Pool (Deloitte)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46520" y="50109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항목 체계로 구조화하여 팀 내 반복 탐색을 줄이고 BM 논의의 기준 자료로 활용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589788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등 새로운 도구를 업무에 접목</a:t>
            </a:r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팀 전체의 속도와 완성도를 함께 높이는 방향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—  STRENGTHS &amp;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· 보완점과 입사 후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기록하는 사람에서 판단하는 사람으로 — 어떤 산업의 과제도 빠르게 학습해 실무에 투입되는 컨설턴트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34440"/>
            <a:ext cx="5486400" cy="2148840"/>
          </a:xfrm>
          <a:prstGeom prst="roundRect">
            <a:avLst>
              <a:gd name="adj" fmla="val 8085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138988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1389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1792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일을 체계로 만드는 습관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" y="20299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 300건 · 사무국 업무 자동화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23225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산업 · 주제에 빠르게 적응하는 학습력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2560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전공 → 전자 · 데이터 · AI 영역으로 확장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2852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이해관계자의 요구를 정리하는 소통력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30906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정례 회의 · 고객 인터뷰 · 다자 협의체 운영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1234440"/>
            <a:ext cx="5513832" cy="2148840"/>
          </a:xfrm>
          <a:prstGeom prst="roundRect">
            <a:avLst>
              <a:gd name="adj" fmla="val 8085"/>
            </a:avLst>
          </a:prstGeom>
          <a:solidFill>
            <a:srgbClr val="F5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138988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389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보완점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1792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의견을 제시하는 데 소극적이었던 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0299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산업이 매번 바뀌고 역할이 리서치 · 기록 중심이었던 탓에 한 영역을 깊이 파고 판단을 내려본 경험이 상대적으로 부족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2578608"/>
            <a:ext cx="514807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방향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92608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회의 기록을 다음 안건 · 소통 방향 제안으로 확장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제안서 작업 참여로 환경분석부터 제안 논리까지 구성 훈련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913632"/>
            <a:ext cx="3520440" cy="1298448"/>
          </a:xfrm>
          <a:prstGeom prst="roundRect">
            <a:avLst>
              <a:gd name="adj" fmla="val 13380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 기간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" y="43525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제안과 수행 양쪽에 참여하여 프로젝트 전 주기를 경험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AAIA 등 진행 과제의 실무를 완결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995928" y="4434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334256" y="3913632"/>
            <a:ext cx="3520440" cy="1298448"/>
          </a:xfrm>
          <a:prstGeom prst="roundRect">
            <a:avLst>
              <a:gd name="adj" fmla="val 13380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4535424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정규직 전환 이후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35424" y="43525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분석부터 결론까지 한 파트를 단독으로 완결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담당 산업 · 주제에 대한 전문성 축적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72984" y="4434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11312" y="3913632"/>
            <a:ext cx="3520440" cy="1298448"/>
          </a:xfrm>
          <a:prstGeom prst="roundRect">
            <a:avLst>
              <a:gd name="adj" fmla="val 13380"/>
            </a:avLst>
          </a:prstGeom>
          <a:solidFill>
            <a:srgbClr val="1D1D1F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12480" y="43525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산업을 가리지 않고 투입되는 수행 인력으로 성장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AI 등 새로운 도구로 팀 생산성에 기여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5577840"/>
            <a:ext cx="3657600" cy="658368"/>
          </a:xfrm>
          <a:prstGeom prst="roundRect">
            <a:avLst>
              <a:gd name="adj" fmla="val 26389"/>
            </a:avLst>
          </a:prstGeom>
          <a:solidFill>
            <a:srgbClr val="F5F5F7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</a:t>
            </a:r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입장을 하나의 논의로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65676" y="5577840"/>
            <a:ext cx="3657600" cy="658368"/>
          </a:xfrm>
          <a:prstGeom prst="roundRect">
            <a:avLst>
              <a:gd name="adj" fmla="val 26389"/>
            </a:avLst>
          </a:prstGeom>
          <a:solidFill>
            <a:srgbClr val="F5F5F7"/>
          </a:solidFill>
          <a:ln/>
        </p:spPr>
      </p:sp>
      <p:sp>
        <p:nvSpPr>
          <p:cNvPr id="52" name="Text 50"/>
          <p:cNvSpPr/>
          <p:nvPr/>
        </p:nvSpPr>
        <p:spPr>
          <a:xfrm>
            <a:off x="4265676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</a:t>
            </a:r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체계로, 시간을 판단으로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74152" y="5577840"/>
            <a:ext cx="3657600" cy="658368"/>
          </a:xfrm>
          <a:prstGeom prst="roundRect">
            <a:avLst>
              <a:gd name="adj" fmla="val 26389"/>
            </a:avLst>
          </a:pr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8074152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</a:t>
            </a:r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산업이든 빠르게 학습해 투입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192024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57332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3703320"/>
            <a:ext cx="8531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— KMAC 채용전환형 인턴(AA) 지원 · 2026. 08.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69668" y="4434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6966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입장을 하나의 논의로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84268" y="4434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426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체계로, 시간을 판단으로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98868" y="443484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98868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산업이든 빠르게 학습해 투입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2026-08-24T02:14:07Z</dcterms:created>
  <dcterms:modified xsi:type="dcterms:W3CDTF">2026-08-24T02:14:07Z</dcterms:modified>
</cp:coreProperties>
</file>